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同一病人 M24557 的计划CT与治疗位锥束CT。三大难点决定了后续方法：坐标系不同→需稳健初始化；灰度不一致→需对线性差异鲁棒的相似性(LNCC)；FOV不同→只在CBCT视野内评估。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CBCT 以治疗机等中心为原点、pCT 以 CT 床为原点；散射导致 cupping 与 HU 偏移；FOV 截断使边缘信息缺失。这些都要求方法对灰度差异鲁棒并限制评估区域。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不是调用黑箱配准软件，而是用 PyTorch 自行实现：对这一对体数据直接用梯度下降优化刚体参数与（可选）微分同胚形变。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立方体各向同性网格保证 affine_grid 的归一化旋转就是物理刚体旋转、不引入剪切；z 方向用面积剖面互相关比用质心稳健得多。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CBCT 软组织 HU 低于 pCT（cupping/标定差异），故用对线性灰度差异鲁棒的LNCC。本例戴面罩头颈近似刚体，形变只做小幅平滑细化以避免过度揉变。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棋盘格中骨与体表轮廓在配准后跨方格连续；差异图整体明显变暗，残留主要在 CBCT FOV 边缘与couch。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骨 Dice 用 HU&gt;200 阈值、独立于 LNCC 优化目标，因此大幅提升说明是真实结构对齐而非过拟合相似度。刚体已达到主要精度，形变对 Dice 增益很小。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左：两阶段 loss 收敛；右：形变场 Jacobian 行列式中心层，颜色接近 1 表示近似保体积、无折叠。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做了什么 / 验证了什么 / 局限与展望。可拓展：散射与 HU 定量校正、多病例评估、加入标志点 TRE 或轮廓 Dice、学习式配准网络。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eck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2972" y="0"/>
            <a:ext cx="45250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758952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286000"/>
            <a:ext cx="109728" cy="201168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6126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3B6E"/>
                </a:solidFill>
                <a:latin typeface="Microsoft YaHei"/>
                <a:ea typeface="Microsoft YaHei"/>
              </a:rPr>
              <a:t>CBCT → pCT 医学影像配准</a:t>
            </a:r>
          </a:p>
          <a:p>
            <a:r>
              <a:rPr sz="1700" b="0">
                <a:solidFill>
                  <a:srgbClr val="5A5A5A"/>
                </a:solidFill>
                <a:latin typeface="Microsoft YaHei"/>
                <a:ea typeface="Microsoft YaHei"/>
              </a:rPr>
              <a:t>锥束CT 与 计划CT 的刚体配准（含可选形变细化）</a:t>
            </a:r>
          </a:p>
          <a:p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病例 M24557</a:t>
            </a:r>
          </a:p>
          <a:p>
            <a:r>
              <a:rPr sz="1400" b="0">
                <a:solidFill>
                  <a:srgbClr val="5A5A5A"/>
                </a:solidFill>
                <a:latin typeface="Microsoft YaHei"/>
                <a:ea typeface="Microsoft YaHei"/>
              </a:rPr>
              <a:t>汇报人：杨同学      2026-06-18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B6E"/>
                </a:solidFill>
                <a:latin typeface="Microsoft YaHei"/>
                <a:ea typeface="Microsoft YaHei"/>
              </a:rPr>
              <a:t>任务与数据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Microsoft YaHei"/>
                <a:ea typeface="Microsoft YaHei"/>
              </a:rPr>
              <a:t>CBCT → pCT 配准 · 病例 M24557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190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Microsoft YaHei"/>
                <a:ea typeface="Microsoft YaHei"/>
              </a:rPr>
              <a:t>2</a:t>
            </a:r>
          </a:p>
        </p:txBody>
      </p:sp>
      <p:pic>
        <p:nvPicPr>
          <p:cNvPr id="6" name="Picture 5" descr="data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76383"/>
            <a:ext cx="6583680" cy="4453873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23760" y="1554480"/>
          <a:ext cx="4572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737360"/>
                <a:gridCol w="1645920"/>
              </a:tblGrid>
              <a:tr h="40233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/>
                      </a:r>
                    </a:p>
                  </a:txBody>
                  <a:tcPr anchor="ctr" marT="25400" marB="25400">
                    <a:solidFill>
                      <a:srgbClr val="1F3B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pCT 计划CT</a:t>
                      </a:r>
                    </a:p>
                  </a:txBody>
                  <a:tcPr anchor="ctr" marT="25400" marB="25400">
                    <a:solidFill>
                      <a:srgbClr val="1F3B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CBCT 锥束CT</a:t>
                      </a:r>
                    </a:p>
                  </a:txBody>
                  <a:tcPr anchor="ctr" marT="25400" marB="25400">
                    <a:solidFill>
                      <a:srgbClr val="1F3B6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设备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Philips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Elekta XVI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矩阵</a:t>
                      </a:r>
                    </a:p>
                  </a:txBody>
                  <a:tcPr anchor="ctr" marT="25400" marB="25400">
                    <a:solidFill>
                      <a:srgbClr val="E9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512×512×112</a:t>
                      </a:r>
                    </a:p>
                  </a:txBody>
                  <a:tcPr anchor="ctr" marT="25400" marB="25400">
                    <a:solidFill>
                      <a:srgbClr val="E9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270×270×128</a:t>
                      </a:r>
                    </a:p>
                  </a:txBody>
                  <a:tcPr anchor="ctr" marT="25400" marB="25400">
                    <a:solidFill>
                      <a:srgbClr val="E9EE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体素(mm)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1.16×1.16×3.0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1.0×1.0×1.0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坐标系</a:t>
                      </a:r>
                    </a:p>
                  </a:txBody>
                  <a:tcPr anchor="ctr" marT="25400" marB="25400">
                    <a:solidFill>
                      <a:srgbClr val="E9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床坐标 z≈-800</a:t>
                      </a:r>
                    </a:p>
                  </a:txBody>
                  <a:tcPr anchor="ctr" marT="25400" marB="25400">
                    <a:solidFill>
                      <a:srgbClr val="E9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等中心 z≈0</a:t>
                      </a:r>
                    </a:p>
                  </a:txBody>
                  <a:tcPr anchor="ctr" marT="25400" marB="25400">
                    <a:solidFill>
                      <a:srgbClr val="E9EE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223760" y="3931920"/>
            <a:ext cx="457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Microsoft YaHei"/>
                <a:ea typeface="Microsoft YaHei"/>
              </a:rPr>
              <a:t>▪ 不同 Frame of Reference（坐标不重叠）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Microsoft YaHei"/>
                <a:ea typeface="Microsoft YaHei"/>
              </a:rPr>
              <a:t>▪ 灰度不一致（散射 / HU 标定差异）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Microsoft YaHei"/>
                <a:ea typeface="Microsoft YaHei"/>
              </a:rPr>
              <a:t>▪ 分辨率与 FOV 不同（CBCT 视野小）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B6E"/>
                </a:solidFill>
                <a:latin typeface="Microsoft YaHei"/>
                <a:ea typeface="Microsoft YaHei"/>
              </a:rPr>
              <a:t>为什么不平凡：CBCT 的物理特性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Microsoft YaHei"/>
                <a:ea typeface="Microsoft YaHei"/>
              </a:rPr>
              <a:t>CBCT → pCT 配准 · 病例 M24557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190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Microsoft YaHei"/>
                <a:ea typeface="Microsoft YaHei"/>
              </a:rPr>
              <a:t>3</a:t>
            </a:r>
          </a:p>
        </p:txBody>
      </p:sp>
      <p:pic>
        <p:nvPicPr>
          <p:cNvPr id="6" name="Picture 5" descr="coord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845" y="1280160"/>
            <a:ext cx="9629829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420624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Microsoft YaHei"/>
                <a:ea typeface="Microsoft YaHei"/>
              </a:rPr>
              <a:t>▪ 坐标系不同：z 相差约 800 mm，DICOM 头不能直接对齐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Microsoft YaHei"/>
                <a:ea typeface="Microsoft YaHei"/>
              </a:rPr>
              <a:t>▪ X 射线散射 → cupping 伪影，软组织 HU 塌陷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Microsoft YaHei"/>
                <a:ea typeface="Microsoft YaHei"/>
              </a:rPr>
              <a:t>▪ HU 标定不准：CBCT 与计划CT 不可直接比较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Microsoft YaHei"/>
                <a:ea typeface="Microsoft YaHei"/>
              </a:rPr>
              <a:t>▪ FOV 截断：CBCT 视野小、边缘缺失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B6E"/>
                </a:solidFill>
                <a:latin typeface="Microsoft YaHei"/>
                <a:ea typeface="Microsoft YaHei"/>
              </a:rPr>
              <a:t>方法总览：纯 PyTorch 实例优化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Microsoft YaHei"/>
                <a:ea typeface="Microsoft YaHei"/>
              </a:rPr>
              <a:t>CBCT → pCT 配准 · 病例 M24557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190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5147" y="2834640"/>
            <a:ext cx="1874519" cy="1371600"/>
          </a:xfrm>
          <a:prstGeom prst="roundRect">
            <a:avLst/>
          </a:prstGeom>
          <a:solidFill>
            <a:srgbClr val="1F3B6E"/>
          </a:solidFill>
          <a:ln w="12700">
            <a:solidFill>
              <a:srgbClr val="1F3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DICOM
→ HU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424531" y="3374136"/>
            <a:ext cx="347472" cy="292608"/>
          </a:xfrm>
          <a:prstGeom prst="rightArrow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26867" y="2834640"/>
            <a:ext cx="1874519" cy="1371600"/>
          </a:xfrm>
          <a:prstGeom prst="roundRect">
            <a:avLst/>
          </a:prstGeom>
          <a:solidFill>
            <a:srgbClr val="5A5A5A"/>
          </a:solidFill>
          <a:ln w="12700">
            <a:solidFill>
              <a:srgbClr val="1F3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立方体网格
+ 初始对齐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56251" y="3374136"/>
            <a:ext cx="347472" cy="292608"/>
          </a:xfrm>
          <a:prstGeom prst="rightArrow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58587" y="2834640"/>
            <a:ext cx="1874519" cy="1371600"/>
          </a:xfrm>
          <a:prstGeom prst="roundRect">
            <a:avLst/>
          </a:prstGeom>
          <a:solidFill>
            <a:srgbClr val="1F3B6E"/>
          </a:solidFill>
          <a:ln w="12700">
            <a:solidFill>
              <a:srgbClr val="1F3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多分辨率刚体
(LNCC)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087971" y="3374136"/>
            <a:ext cx="347472" cy="292608"/>
          </a:xfrm>
          <a:prstGeom prst="rightArrow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0307" y="2834640"/>
            <a:ext cx="1874519" cy="1371600"/>
          </a:xfrm>
          <a:prstGeom prst="roundRect">
            <a:avLst/>
          </a:prstGeom>
          <a:solidFill>
            <a:srgbClr val="5A5A5A"/>
          </a:solidFill>
          <a:ln w="12700">
            <a:solidFill>
              <a:srgbClr val="1F3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可选形变
(微分同胚)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419691" y="3374136"/>
            <a:ext cx="347472" cy="292608"/>
          </a:xfrm>
          <a:prstGeom prst="rightArrow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22027" y="2834640"/>
            <a:ext cx="1874519" cy="1371600"/>
          </a:xfrm>
          <a:prstGeom prst="roundRect">
            <a:avLst/>
          </a:prstGeom>
          <a:solidFill>
            <a:srgbClr val="1F3B6E"/>
          </a:solidFill>
          <a:ln w="12700">
            <a:solidFill>
              <a:srgbClr val="1F3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输出
变换/指标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84632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Microsoft YaHei"/>
                <a:ea typeface="Microsoft YaHei"/>
              </a:rPr>
              <a:t>▪ 单对图像实例优化：无需训练数据 / 预训练模型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Microsoft YaHei"/>
                <a:ea typeface="Microsoft YaHei"/>
              </a:rPr>
              <a:t>▪ 全部基于 PyTorch 的 affine_grid / grid_sample 自行实现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B6E"/>
                </a:solidFill>
                <a:latin typeface="Microsoft YaHei"/>
                <a:ea typeface="Microsoft YaHei"/>
              </a:rPr>
              <a:t>关键设计①：稳健初始对齐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Microsoft YaHei"/>
                <a:ea typeface="Microsoft YaHei"/>
              </a:rPr>
              <a:t>CBCT → pCT 配准 · 病例 M24557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190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Microsoft YaHei"/>
                <a:ea typeface="Microsoft YaHei"/>
              </a:rPr>
              <a:t>5</a:t>
            </a:r>
          </a:p>
        </p:txBody>
      </p:sp>
      <p:pic>
        <p:nvPicPr>
          <p:cNvPr id="6" name="Picture 5" descr="zinit_x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47481"/>
            <a:ext cx="6583680" cy="30202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Microsoft YaHei"/>
                <a:ea typeface="Microsoft YaHei"/>
              </a:rPr>
              <a:t>▪ 立方体 + 各向同性网格 → 归一化旋转 = 物理刚体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Microsoft YaHei"/>
                <a:ea typeface="Microsoft YaHei"/>
              </a:rPr>
              <a:t>▪ x / y：身体质心对齐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Microsoft YaHei"/>
                <a:ea typeface="Microsoft YaHei"/>
              </a:rPr>
              <a:t>▪ z：横截面积剖面的 1D 互相关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Microsoft YaHei"/>
                <a:ea typeface="Microsoft YaHei"/>
              </a:rPr>
              <a:t>▪ 因 pCT 的 z 覆盖远大于 CBCT，z 质心不可比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B6E"/>
                </a:solidFill>
                <a:latin typeface="Microsoft YaHei"/>
                <a:ea typeface="Microsoft YaHei"/>
              </a:rPr>
              <a:t>关键设计②：相似性与形变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Microsoft YaHei"/>
                <a:ea typeface="Microsoft YaHei"/>
              </a:rPr>
              <a:t>CBCT → pCT 配准 · 病例 M24557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190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Microsoft YaHei"/>
                <a:ea typeface="Microsoft YaHei"/>
              </a:rPr>
              <a:t>6</a:t>
            </a:r>
          </a:p>
        </p:txBody>
      </p:sp>
      <p:pic>
        <p:nvPicPr>
          <p:cNvPr id="6" name="Picture 5" descr="intensity_cu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44310"/>
            <a:ext cx="6583680" cy="3026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Microsoft YaHei"/>
                <a:ea typeface="Microsoft YaHei"/>
              </a:rPr>
              <a:t>▪ 相似性：局部归一化互相关 LNCC（抗灰度差异）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Microsoft YaHei"/>
                <a:ea typeface="Microsoft YaHei"/>
              </a:rPr>
              <a:t>▪ 多分辨率金字塔 4×→2×→1× 扩大捕获范围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Microsoft YaHei"/>
                <a:ea typeface="Microsoft YaHei"/>
              </a:rPr>
              <a:t>▪ 形变：速度场积分得微分同胚位移场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Microsoft YaHei"/>
                <a:ea typeface="Microsoft YaHei"/>
              </a:rPr>
              <a:t>▪ 强正则 + 粗网格 + 平滑 → 仅小幅细化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B6E"/>
                </a:solidFill>
                <a:latin typeface="Microsoft YaHei"/>
                <a:ea typeface="Microsoft YaHei"/>
              </a:rPr>
              <a:t>结果 · 定性：棋盘格与差异图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Microsoft YaHei"/>
                <a:ea typeface="Microsoft YaHei"/>
              </a:rPr>
              <a:t>CBCT → pCT 配准 · 病例 M24557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190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Microsoft YaHei"/>
                <a:ea typeface="Microsoft YaHei"/>
              </a:rPr>
              <a:t>7</a:t>
            </a:r>
          </a:p>
        </p:txBody>
      </p:sp>
      <p:pic>
        <p:nvPicPr>
          <p:cNvPr id="6" name="Picture 5" descr="check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093" y="1325880"/>
            <a:ext cx="3197733" cy="4846320"/>
          </a:xfrm>
          <a:prstGeom prst="rect">
            <a:avLst/>
          </a:prstGeom>
        </p:spPr>
      </p:pic>
      <p:pic>
        <p:nvPicPr>
          <p:cNvPr id="7" name="Picture 6" descr="dif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990" y="1325880"/>
            <a:ext cx="4698258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B6E"/>
                </a:solidFill>
                <a:latin typeface="Microsoft YaHei"/>
                <a:ea typeface="Microsoft YaHei"/>
              </a:rPr>
              <a:t>结果 · 定量（真实数值）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Microsoft YaHei"/>
                <a:ea typeface="Microsoft YaHei"/>
              </a:rPr>
              <a:t>CBCT → pCT 配准 · 病例 M24557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190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Microsoft YaHei"/>
                <a:ea typeface="Microsoft YaHei"/>
              </a:rPr>
              <a:t>8</a:t>
            </a:r>
          </a:p>
        </p:txBody>
      </p:sp>
      <p:pic>
        <p:nvPicPr>
          <p:cNvPr id="6" name="Picture 5" descr="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5760720" cy="26517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54480"/>
          <a:ext cx="539496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737360"/>
                <a:gridCol w="1737360"/>
              </a:tblGrid>
              <a:tr h="4267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 anchor="ctr" marT="25400" marB="25400">
                    <a:solidFill>
                      <a:srgbClr val="1F3B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仅刚体</a:t>
                      </a:r>
                    </a:p>
                  </a:txBody>
                  <a:tcPr anchor="ctr" marT="25400" marB="25400">
                    <a:solidFill>
                      <a:srgbClr val="1F3B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+形变</a:t>
                      </a:r>
                    </a:p>
                  </a:txBody>
                  <a:tcPr anchor="ctr" marT="25400" marB="25400">
                    <a:solidFill>
                      <a:srgbClr val="1F3B6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骨 Dice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0.832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0.875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LNCC</a:t>
                      </a:r>
                    </a:p>
                  </a:txBody>
                  <a:tcPr anchor="ctr" marT="25400" marB="25400">
                    <a:solidFill>
                      <a:srgbClr val="E9EE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0.409</a:t>
                      </a:r>
                    </a:p>
                  </a:txBody>
                  <a:tcPr anchor="ctr" marT="25400" marB="25400">
                    <a:solidFill>
                      <a:srgbClr val="E9EE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0.465</a:t>
                      </a:r>
                    </a:p>
                  </a:txBody>
                  <a:tcPr anchor="ctr" marT="25400" marB="25400">
                    <a:solidFill>
                      <a:srgbClr val="E9EEF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3063240"/>
          <a:ext cx="53949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560320"/>
              </a:tblGrid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刚体摆位修正</a:t>
                      </a:r>
                    </a:p>
                  </a:txBody>
                  <a:tcPr anchor="ctr" marT="25400" marB="25400">
                    <a:solidFill>
                      <a:srgbClr val="1F3B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数值</a:t>
                      </a:r>
                    </a:p>
                  </a:txBody>
                  <a:tcPr anchor="ctr" marT="25400" marB="25400">
                    <a:solidFill>
                      <a:srgbClr val="1F3B6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平移 tx,ty,tz (mm)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3.90, -37.85, 1.65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旋转 rx,ry,rz (度)</a:t>
                      </a:r>
                    </a:p>
                  </a:txBody>
                  <a:tcPr anchor="ctr" marT="25400" marB="25400">
                    <a:solidFill>
                      <a:srgbClr val="E9EE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-0.87, 0.37, 0.16</a:t>
                      </a:r>
                    </a:p>
                  </a:txBody>
                  <a:tcPr anchor="ctr" marT="25400" marB="25400">
                    <a:solidFill>
                      <a:srgbClr val="E9EE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骨 Dice（前→后）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0.128→0.832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Jacobian min / 负值占比</a:t>
                      </a:r>
                    </a:p>
                  </a:txBody>
                  <a:tcPr anchor="ctr" marT="25400" marB="25400">
                    <a:solidFill>
                      <a:srgbClr val="E9EE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0.506 / 0.00%</a:t>
                      </a:r>
                    </a:p>
                  </a:txBody>
                  <a:tcPr anchor="ctr" marT="25400" marB="25400">
                    <a:solidFill>
                      <a:srgbClr val="E9EE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5349240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</a:rPr>
              <a:t>▪ 骨 Dice 独立于优化目标，证明真实结构对齐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  <a:ea typeface="Microsoft YaHei"/>
              </a:rPr>
              <a:t>▪ 刚体为主结果；形变仅小幅细化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B6E"/>
                </a:solidFill>
                <a:latin typeface="Microsoft YaHei"/>
                <a:ea typeface="Microsoft YaHei"/>
              </a:rPr>
              <a:t>收敛过程与形变合法性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Microsoft YaHei"/>
                <a:ea typeface="Microsoft YaHei"/>
              </a:rPr>
              <a:t>CBCT → pCT 配准 · 病例 M24557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190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Microsoft YaHei"/>
                <a:ea typeface="Microsoft YaHei"/>
              </a:rPr>
              <a:t>9</a:t>
            </a:r>
          </a:p>
        </p:txBody>
      </p:sp>
      <p:pic>
        <p:nvPicPr>
          <p:cNvPr id="6" name="Picture 5" descr="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02378"/>
            <a:ext cx="6400800" cy="2327563"/>
          </a:xfrm>
          <a:prstGeom prst="rect">
            <a:avLst/>
          </a:prstGeom>
        </p:spPr>
      </p:pic>
      <p:pic>
        <p:nvPicPr>
          <p:cNvPr id="7" name="Picture 6" descr="jacobian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409160"/>
            <a:ext cx="4754880" cy="43139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806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  <a:ea typeface="Microsoft YaHei"/>
              </a:rPr>
              <a:t>▪ 形变场 Jacobian 处处为正、无折叠（微分同胚）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B6E"/>
                </a:solidFill>
                <a:latin typeface="Microsoft YaHei"/>
                <a:ea typeface="Microsoft YaHei"/>
              </a:rPr>
              <a:t>小结与局限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Microsoft YaHei"/>
                <a:ea typeface="Microsoft YaHei"/>
              </a:rPr>
              <a:t>CBCT → pCT 配准 · 病例 M24557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190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Microsoft YaHei"/>
                <a:ea typeface="Microsoft YaHei"/>
              </a:rPr>
              <a:t>▪ 纯 PyTorch 实现 CBCT→pCT 刚体配准，导出物理摆位修正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Microsoft YaHei"/>
                <a:ea typeface="Microsoft YaHei"/>
              </a:rPr>
              <a:t>▪ 针对 CBCT 物理特性：稳健初始化 / LNCC / FOV 掩膜 / 真刚体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Microsoft YaHei"/>
                <a:ea typeface="Microsoft YaHei"/>
              </a:rPr>
              <a:t>▪ 独立骨 Dice 验证（0.128→0.832）；形变仅小幅细化、无折叠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Microsoft YaHei"/>
                <a:ea typeface="Microsoft YaHei"/>
              </a:rPr>
              <a:t>▪ 局限：未做散射/HU 校正、单病例、未做标志点 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