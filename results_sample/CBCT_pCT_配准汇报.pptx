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91440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B3B6F"/>
                </a:solidFill>
                <a:latin typeface="Microsoft YaHei"/>
              </a:rPr>
              <a:t>CBCT → pCT 医学影像配准</a:t>
            </a:r>
          </a:p>
          <a:p>
            <a:r>
              <a:rPr sz="1800" b="0">
                <a:solidFill>
                  <a:srgbClr val="5A5A5A"/>
                </a:solidFill>
                <a:latin typeface="Microsoft YaHei"/>
              </a:rPr>
              <a:t>锥束CT 与 计划CT 的刚体 + 微分同胚形变配准（病例 M24557）</a:t>
            </a:r>
          </a:p>
          <a:p>
            <a:r>
              <a:rPr sz="1400" b="0">
                <a:solidFill>
                  <a:srgbClr val="5A5A5A"/>
                </a:solidFill>
                <a:latin typeface="Microsoft YaHei"/>
              </a:rPr>
              <a:t>汇报人：________      日期：2026-06-19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任务与数据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449" y="1325880"/>
            <a:ext cx="3866780" cy="45720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55448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192024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 marT="25400" marB="25400">
                    <a:solidFill>
                      <a:srgbClr val="1B3B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pCT 计划CT</a:t>
                      </a:r>
                    </a:p>
                  </a:txBody>
                  <a:tcPr anchor="ctr" marT="25400" marB="25400">
                    <a:solidFill>
                      <a:srgbClr val="1B3B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CBCT 锥束CT</a:t>
                      </a:r>
                    </a:p>
                  </a:txBody>
                  <a:tcPr anchor="ctr" marT="25400" marB="25400">
                    <a:solidFill>
                      <a:srgbClr val="1B3B6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设备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Philips Brilliance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Elekta XVI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模态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CT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CBCT(CT)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矩阵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512×512×112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270×270×128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体素(mm)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1.16×1.16×3.0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1.0×1.0×1.0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坐标系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CT 床坐标 (z≈-800)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等中心坐标 (z≈0)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11480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三个难点：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Microsoft YaHei"/>
              </a:rPr>
              <a:t>– 不同 Frame of Reference（世界坐标不重叠）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Microsoft YaHei"/>
              </a:rPr>
              <a:t>– 灰度不一致（散射/HU 标定差异）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Microsoft YaHei"/>
              </a:rPr>
              <a:t>– 分辨率与 FOV 不同（CBCT 视野小、被截断）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为什么不平凡：CBCT 的物理特性决定方法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ord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342" y="1234440"/>
            <a:ext cx="9308834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世界坐标系不同：CBCT 以治疗机等中心为原点、pCT 以 CT 床为原点，z 相差约 800 mm，DICOM 头无法直接对齐。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X 射线散射 → cupping 伪影，软组织区 HU 向中心塌陷。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HU 标定不准：CBCT 的 CT 值与计划 CT 不可直接比较。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FOV 截断：CBCT 视野小，边缘信息缺失。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→ 需要：稳健初始化 + 对灰度差异鲁棒的相似性 + 仅在 CBCT 视野内评估。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方法总览：纯 PyTorch 实例优化（非黑箱工具）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2743200"/>
            <a:ext cx="1874519" cy="1371600"/>
          </a:xfrm>
          <a:prstGeom prst="roundRect">
            <a:avLst/>
          </a:prstGeom>
          <a:solidFill>
            <a:srgbClr val="1B3B6F"/>
          </a:solidFill>
          <a:ln>
            <a:solidFill>
              <a:srgbClr val="1B3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DICOM 读取
→ HU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97683" y="3264408"/>
            <a:ext cx="338328" cy="329184"/>
          </a:xfrm>
          <a:prstGeom prst="rightArrow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72587" y="2743200"/>
            <a:ext cx="1874519" cy="1371600"/>
          </a:xfrm>
          <a:prstGeom prst="roundRect">
            <a:avLst/>
          </a:prstGeom>
          <a:solidFill>
            <a:srgbClr val="5A5A5A"/>
          </a:solidFill>
          <a:ln>
            <a:solidFill>
              <a:srgbClr val="1B3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立方体公共网格
+ 初始对齐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3683" y="3264408"/>
            <a:ext cx="338328" cy="329184"/>
          </a:xfrm>
          <a:prstGeom prst="rightArrow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58587" y="2743200"/>
            <a:ext cx="1874519" cy="1371600"/>
          </a:xfrm>
          <a:prstGeom prst="roundRect">
            <a:avLst/>
          </a:prstGeom>
          <a:solidFill>
            <a:srgbClr val="1B3B6F"/>
          </a:solidFill>
          <a:ln>
            <a:solidFill>
              <a:srgbClr val="1B3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多分辨率刚体
(LNCC)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9683" y="3264408"/>
            <a:ext cx="338328" cy="329184"/>
          </a:xfrm>
          <a:prstGeom prst="rightArrow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44587" y="2743200"/>
            <a:ext cx="1874519" cy="1371600"/>
          </a:xfrm>
          <a:prstGeom prst="roundRect">
            <a:avLst/>
          </a:prstGeom>
          <a:solidFill>
            <a:srgbClr val="5A5A5A"/>
          </a:solidFill>
          <a:ln>
            <a:solidFill>
              <a:srgbClr val="1B3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微分同胚形变
(速度场积分)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5683" y="3264408"/>
            <a:ext cx="338328" cy="329184"/>
          </a:xfrm>
          <a:prstGeom prst="rightArrow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0587" y="2743200"/>
            <a:ext cx="1874519" cy="1371600"/>
          </a:xfrm>
          <a:prstGeom prst="roundRect">
            <a:avLst/>
          </a:prstGeom>
          <a:solidFill>
            <a:srgbClr val="1B3B6F"/>
          </a:solidFill>
          <a:ln>
            <a:solidFill>
              <a:srgbClr val="1B3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输出
变换/指标/图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单对图像的实例优化：直接对这一对体数据用梯度下降优化空间变换，无需训练数据 / 预训练模型。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全部基于 PyTorch 的 affine_grid / grid_sample 自行实现。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关键设计①：稳健初始对齐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zinit_x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921"/>
            <a:ext cx="6583680" cy="30202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立方体 + 各向同性公共网格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Microsoft YaHei"/>
              </a:rPr>
              <a:t>– 使 affine_grid 的归一化旋转 = 物理刚体旋转，不引入剪切。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x / y：身体质心对齐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  <a:latin typeface="Microsoft YaHei"/>
              </a:rPr>
              <a:t>• z：横截面积剖面的 1D 互相关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Microsoft YaHei"/>
              </a:rPr>
              <a:t>– pCT 的 z 覆盖远大于 CBCT，z 质心落在不同解剖范围、不可比；用面积剖面互相关定位更稳健。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关键设计②：相似性度量与形变模型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tensity_cu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4310"/>
            <a:ext cx="6583680" cy="3026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</a:rPr>
              <a:t>• 相似性：局部归一化互相关 LNCC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Microsoft YaHei"/>
              </a:rPr>
              <a:t>– 对 CBCT/pCT 的线性灰度差异、cupping 鲁棒。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</a:rPr>
              <a:t>• 多分辨率金字塔 (4×→2×→1×)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Microsoft YaHei"/>
              </a:rPr>
              <a:t>– 扩大捕获范围，避免陷入局部极小。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</a:rPr>
              <a:t>• 形变：速度场 scaling-and-squaring 积分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Microsoft YaHei"/>
              </a:rPr>
              <a:t>– 得到微分同胚位移场 → 可逆、无折叠。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Microsoft YaHei"/>
              </a:rPr>
              <a:t>• 仅在 CBCT 视野(FOV)掩膜内计算损失。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结果 · 定性：棋盘格与差异图（前 vs 后）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925" y="1325880"/>
            <a:ext cx="3258068" cy="4937760"/>
          </a:xfrm>
          <a:prstGeom prst="rect">
            <a:avLst/>
          </a:prstGeom>
        </p:spPr>
      </p:pic>
      <p:pic>
        <p:nvPicPr>
          <p:cNvPr id="5" name="Picture 4" descr="dif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667" y="1325880"/>
            <a:ext cx="4786904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5A"/>
                </a:solidFill>
                <a:latin typeface="Microsoft YaHei"/>
              </a:rPr>
              <a:t>棋盘格中骨与体表轮廓在配准后跨方格连续；差异图整体变暗。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结果 · 定量（真实数值）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6354"/>
            <a:ext cx="5852160" cy="269385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554480"/>
          <a:ext cx="5303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 marT="25400" marB="25400">
                    <a:solidFill>
                      <a:srgbClr val="1B3B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 marT="25400" marB="25400">
                    <a:solidFill>
                      <a:srgbClr val="1B3B6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刚体平移 tx,ty,tz (mm)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3.90, -37.85, 1.65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刚体旋转 rx,ry,rz (度)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-0.87, 0.37, 0.16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骨 Dice（前→后）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0.128 → 0.919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LNCC（前→后）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0.079 → 0.613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Jacobian 最小值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-7.13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Jacobian 负值占比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0.333%</a:t>
                      </a:r>
                    </a:p>
                  </a:txBody>
                  <a:tcPr anchor="ctr" marT="25400" marB="254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92240" y="498348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骨 Dice 独立于优化目标 LNCC：大幅提升说明是真实结构对齐，而非过拟合相似度。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• Jacobian 负值占比 ≈ 0 → 形变合法、无折叠。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收敛过程与形变合法性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3818"/>
            <a:ext cx="6400800" cy="2327563"/>
          </a:xfrm>
          <a:prstGeom prst="rect">
            <a:avLst/>
          </a:prstGeom>
        </p:spPr>
      </p:pic>
      <p:pic>
        <p:nvPicPr>
          <p:cNvPr id="5" name="Picture 4" descr="jacobia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95859"/>
            <a:ext cx="4754880" cy="4323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5A"/>
                </a:solidFill>
                <a:latin typeface="Microsoft YaHei"/>
              </a:rPr>
              <a:t>左：两阶段 loss 收敛；右：形变场 Jacobian 行列式中心层，绝大多数为正（全局负值占比 0.33%）。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3B6F"/>
                </a:solidFill>
                <a:latin typeface="Microsoft YaHei"/>
              </a:rPr>
              <a:t>小结与局限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2194560" cy="54864"/>
          </a:xfrm>
          <a:prstGeom prst="rect">
            <a:avLst/>
          </a:prstGeom>
          <a:solidFill>
            <a:srgbClr val="1B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</a:rPr>
              <a:t>• 做了什么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Microsoft YaHei"/>
              </a:rPr>
              <a:t>– 纯 PyTorch 实现 CBCT→pCT 刚体 + 微分同胚形变配准，导出物理单位摆位修正。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Microsoft YaHei"/>
              </a:rPr>
              <a:t>– 针对 CBCT 物理特性做了：稳健初始化、LNCC、FOV 掩膜、立方体真刚体。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</a:rPr>
              <a:t>• 验证了什么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Microsoft YaHei"/>
              </a:rPr>
              <a:t>– 独立于优化目标的骨 Dice 大幅提升；Jacobian 负值≈0 证明形变合法。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</a:rPr>
              <a:t>• 局限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Microsoft YaHei"/>
              </a:rPr>
              <a:t>– 未对 CBCT 散射 / HU 做定量校正；单病例；未做标志点 TRE 几何精度评估。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Microsoft YaHei"/>
              </a:rPr>
              <a:t>• 可拓展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Microsoft YaHei"/>
              </a:rPr>
              <a:t>– 散射/HU 校正、多病例评估、加入标志点或轮廓 Dice、学习式配准网络。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