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同一病人 M24557 的计划CT与治疗位锥束CT。三大难点决定方法：坐标系不同→稳健初始化；灰度不一致→对线性差异鲁棒的 LNCC；FOV 不同→只在 CBCT 视野内评估。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CBCT 以治疗机等中心为原点、pCT 以 CT 床为原点；散射导致 cupping 与 HU 偏移；FOV 截断使边缘缺失。这些都要求对灰度差异鲁棒并限制评估区域。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不是调用黑箱配准软件，而是用 PyTorch 对这一对体数据直接梯度下降优化刚体参数与受控微分同胚形变。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立方体各向同性网格保证 affine_grid 的归一化旋转就是物理刚体旋转、不引入剪切；z 用面积剖面互相关比用质心稳健得多。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CBCT 软组织 HU 低于 pCT（cupping/标定差异），故用对线性灰度差异鲁棒的LNCC。本例戴面罩头颈近似刚体，形变只做小幅平滑细化以免过度揉变。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棋盘格中骨与体表轮廓在配准后跨方格连续；差异图整体明显变暗，残留主要在 CBCT FOV 边缘与 couch。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骨 Dice 用 HU&gt;200、独立于 LNCC，因此大幅提升说明是真实结构对齐而非过拟合。刚体已达主要精度；形变 +0.043 Dice、Jacobian 全正无折叠，仅作小幅细化。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左：两阶段 loss 收敛；右：形变场 Jacobian 行列式中心层，颜色接近 1 表示近似保体积、无折叠。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做了什么 / 验证了什么 / 局限与展望。受网格分辨率限制，本结果在 3mm 各向同性网格上计算（CPU 单线程，1.5mm 全分辨率刚体单次即需 1 小时以上）；更细网格可进一步提升锐度与刚体精度。可拓展：散射/HU 定量校正、多病例评估、标志点 TRE 或轮廓 Dice、学习式配准网络。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.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0"/>
            <a:ext cx="54864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0" y="214884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B6E"/>
                </a:solidFill>
                <a:latin typeface="Microsoft YaHei"/>
                <a:ea typeface="Microsoft YaHei"/>
              </a:rPr>
              <a:t>CBCT → pCT 医学影像配准</a:t>
            </a:r>
          </a:p>
          <a:p>
            <a:r>
              <a:rPr sz="1800" b="0">
                <a:solidFill>
                  <a:srgbClr val="6B7280"/>
                </a:solidFill>
                <a:latin typeface="Microsoft YaHei"/>
                <a:ea typeface="Microsoft YaHei"/>
              </a:rPr>
              <a:t>刚体配准为主 · 受控微分同胚形变细化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370332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病例 M24557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汇报人：杨同学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2026-06-18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138928" y="4983480"/>
            <a:ext cx="2011680" cy="32004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任务与数据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2</a:t>
            </a:r>
          </a:p>
        </p:txBody>
      </p:sp>
      <p:pic>
        <p:nvPicPr>
          <p:cNvPr id="6" name="Picture 5" descr="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3871"/>
            <a:ext cx="6126480" cy="4144576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8704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CBCT / pCT 各取 轴/冠/矢 三视图（统一窗位）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1417320"/>
          <a:ext cx="4617719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874519"/>
                <a:gridCol w="182880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anchor="ctr" marL="101600" marR="101600" marT="38100" marB="38100"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pCT 计划CT</a:t>
                      </a:r>
                    </a:p>
                  </a:txBody>
                  <a:tcPr anchor="ctr" marL="101600" marR="101600" marT="38100" marB="38100"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CBCT 锥束CT</a:t>
                      </a:r>
                    </a:p>
                  </a:txBody>
                  <a:tcPr anchor="ctr" marL="101600" marR="101600" marT="38100" marB="38100">
                    <a:solidFill>
                      <a:srgbClr val="1F3B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设备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Philips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Elekta XVI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矩阵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512×512×112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270×270×128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体素 mm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1.16×1.16×3.0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1.0×1.0×1.0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坐标系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床 z≈-800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等中心 z≈0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3794760"/>
            <a:ext cx="4617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不同 Frame of Reference（坐标不重叠）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灰度不一致（散射 / HU 标定差异）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分辨率与 FOV 不同（CBCT 视野小）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为什么不平凡：CBCT 的物理特性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3</a:t>
            </a:r>
          </a:p>
        </p:txBody>
      </p:sp>
      <p:pic>
        <p:nvPicPr>
          <p:cNvPr id="6" name="Picture 5" descr="coord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65" y="1234440"/>
            <a:ext cx="9629829" cy="274320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坐标系不同：z 相差约 800 mm，DICOM 头不能直接对齐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散射 → cupping 伪影，软组织 HU 塌陷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HU 标定不准，CBCT 与计划CT 不可直接比较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FOV 截断：CBCT 视野小、边缘缺失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方法总览：纯 PyTorch 实例优化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9103" y="3497580"/>
            <a:ext cx="420623" cy="4572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538831" y="3419856"/>
            <a:ext cx="201168" cy="201168"/>
          </a:xfrm>
          <a:prstGeom prst="chevron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7151" y="2743200"/>
            <a:ext cx="1920240" cy="155448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① DICOM
→ HU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3391" y="3497580"/>
            <a:ext cx="420623" cy="4572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843119" y="3419856"/>
            <a:ext cx="201168" cy="201168"/>
          </a:xfrm>
          <a:prstGeom prst="chevron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1439" y="2743200"/>
            <a:ext cx="1920240" cy="155448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② 立方体网格
+ 初始对齐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79" y="3497580"/>
            <a:ext cx="420623" cy="4572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147407" y="3419856"/>
            <a:ext cx="201168" cy="201168"/>
          </a:xfrm>
          <a:prstGeom prst="chevron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35727" y="2743200"/>
            <a:ext cx="1920240" cy="155448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③ 多分辨率
刚体 LNCC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1967" y="3497580"/>
            <a:ext cx="420623" cy="4572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451695" y="3419856"/>
            <a:ext cx="201168" cy="201168"/>
          </a:xfrm>
          <a:prstGeom prst="chevron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0015" y="2743200"/>
            <a:ext cx="1920240" cy="155448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④ 受控形变
微分同胚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4303" y="2743200"/>
            <a:ext cx="1920240" cy="155448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⑤ 输出
变换/指标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单对图像实例优化：无需训练数据 / 预训练模型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全部基于 PyTorch 的 affine_grid / grid_sample 自行实现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关键设计①：稳健初始对齐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5</a:t>
            </a:r>
          </a:p>
        </p:txBody>
      </p:sp>
      <p:pic>
        <p:nvPicPr>
          <p:cNvPr id="6" name="Picture 5" descr="zinit_x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35149"/>
            <a:ext cx="6400800" cy="293634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0" y="182880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立方体各向同性网格 → 归一化旋转 = 物理刚体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x / y：身体质心对齐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z：横截面积剖面 1D 互相关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因 pCT 的 z 覆盖远大于 CBCT，z 质心不可比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关键设计②：相似性与形变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6</a:t>
            </a:r>
          </a:p>
        </p:txBody>
      </p:sp>
      <p:pic>
        <p:nvPicPr>
          <p:cNvPr id="6" name="Picture 5" descr="intensity_cu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32066"/>
            <a:ext cx="6400800" cy="2942507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0" y="182880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相似性：局部归一化互相关 LNCC（抗灰度差异）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多分辨率金字塔 4×→2×→1× 扩大捕获范围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形变：速度场积分得微分同胚位移场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强正则 + 粗网格 + 平滑 → 仅小幅、无折叠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结果 · 定性：棋盘格与差异图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7</a:t>
            </a:r>
          </a:p>
        </p:txBody>
      </p:sp>
      <p:pic>
        <p:nvPicPr>
          <p:cNvPr id="6" name="Picture 5" descr="check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54" y="1325880"/>
            <a:ext cx="3016730" cy="457200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9161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三视图棋盘格（配准前 vs 后）</a:t>
            </a:r>
          </a:p>
        </p:txBody>
      </p:sp>
      <p:pic>
        <p:nvPicPr>
          <p:cNvPr id="8" name="Picture 7" descr="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0" y="1325880"/>
            <a:ext cx="4432318" cy="457200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59161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差异图 |CBCT − pCT|（前 vs 后）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结果 · 定量（真实数值）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8</a:t>
            </a:r>
          </a:p>
        </p:txBody>
      </p:sp>
      <p:pic>
        <p:nvPicPr>
          <p:cNvPr id="6" name="Picture 5" descr="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04422"/>
            <a:ext cx="5394960" cy="248339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309360" y="1371600"/>
            <a:ext cx="5212080" cy="1600200"/>
          </a:xfrm>
          <a:prstGeom prst="roundRect">
            <a:avLst/>
          </a:prstGeom>
          <a:solidFill>
            <a:srgbClr val="F3F6FB"/>
          </a:solidFill>
          <a:ln w="22225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400" b="1">
                <a:solidFill>
                  <a:srgbClr val="1F3B6E"/>
                </a:solidFill>
                <a:latin typeface="Microsoft YaHei"/>
                <a:ea typeface="Microsoft YaHei"/>
              </a:rPr>
              <a:t>刚体摆位修正（CBCT → pCT）</a:t>
            </a:r>
          </a:p>
          <a:p>
            <a:r>
              <a:rPr sz="1700" b="1">
                <a:solidFill>
                  <a:srgbClr val="1F2937"/>
                </a:solidFill>
                <a:latin typeface="Microsoft YaHei"/>
                <a:ea typeface="Microsoft YaHei"/>
              </a:rPr>
              <a:t>平移 3.90, -37.85, 1.65 mm</a:t>
            </a:r>
          </a:p>
          <a:p>
            <a:r>
              <a:rPr sz="1700" b="1">
                <a:solidFill>
                  <a:srgbClr val="1F2937"/>
                </a:solidFill>
                <a:latin typeface="Microsoft YaHei"/>
                <a:ea typeface="Microsoft YaHei"/>
              </a:rPr>
              <a:t>旋转 -0.87, 0.37, 0.16 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3200400"/>
          <a:ext cx="5212080" cy="1737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1645920"/>
                <a:gridCol w="1645920"/>
              </a:tblGrid>
              <a:tr h="4343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anchor="ctr" marL="101600" marR="101600" marT="38100" marB="38100"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仅刚体</a:t>
                      </a:r>
                    </a:p>
                  </a:txBody>
                  <a:tcPr anchor="ctr" marL="101600" marR="101600" marT="38100" marB="38100"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+形变</a:t>
                      </a:r>
                    </a:p>
                  </a:txBody>
                  <a:tcPr anchor="ctr" marL="101600" marR="101600" marT="38100" marB="38100">
                    <a:solidFill>
                      <a:srgbClr val="1F3B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骨 Dice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0.832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0.875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LNCC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0.409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0.465</a:t>
                      </a:r>
                    </a:p>
                  </a:txBody>
                  <a:tcPr anchor="ctr" marL="101600" marR="101600" marT="38100" marB="38100">
                    <a:solidFill>
                      <a:srgbClr val="F3F6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Jacobian min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0.506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负值 0.0%</a:t>
                      </a:r>
                    </a:p>
                  </a:txBody>
                  <a:tcPr anchor="ctr" marL="1016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50749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骨 Dice 独立于优化目标，证明真实结构对齐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刚体为主结果，形变为受控的小幅细化（Jacobian 全正、无折叠）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收敛过程与形变合法性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9</a:t>
            </a:r>
          </a:p>
        </p:txBody>
      </p:sp>
      <p:pic>
        <p:nvPicPr>
          <p:cNvPr id="6" name="Picture 5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3283"/>
            <a:ext cx="6309360" cy="2294312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pic>
        <p:nvPicPr>
          <p:cNvPr id="7" name="Picture 6" descr="jacobia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46402"/>
            <a:ext cx="4572000" cy="4148075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</a:rPr>
              <a:t>形变场 Jacobian 处处为正、无折叠（微分同胚）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6E"/>
                </a:solidFill>
                <a:latin typeface="Microsoft YaHei"/>
                <a:ea typeface="Microsoft YaHei"/>
              </a:rPr>
              <a:t>小结与局限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37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病例 M24557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373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6675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刚体为主结果，形变为受控的小幅细化（Jacobian 全正、无折叠）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针对 CBCT 物理特性：稳健初始化 / LNCC / FOV 掩膜 / 真刚体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独立骨 Dice 验证：0.128 → 0.832（仅刚体）</a:t>
            </a:r>
          </a:p>
          <a:p>
            <a:pPr marL="254000" indent="-254000">
              <a:lnSpc>
                <a:spcPct val="120000"/>
              </a:lnSpc>
              <a:spcAft>
                <a:spcPts val="1000"/>
              </a:spcAft>
              <a:buFont typeface="Microsoft YaHei"/>
              <a:buChar char="▪"/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局限：3mm 网格、未做散射/HU 校正、单病例、未做标志点 TRE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828800"/>
            <a:ext cx="3657600" cy="365760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550468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配准后（轴位：pCT + CBCT 骨结构）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